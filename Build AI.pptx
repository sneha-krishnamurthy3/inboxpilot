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embeddedFontLst>
    <p:embeddedFont>
      <p:font typeface="Instrument Serif" panose="020B0604020202020204" charset="0"/>
      <p:regular r:id="rId11"/>
      <p:italic r:id="rId12"/>
    </p:embeddedFont>
    <p:embeddedFont>
      <p:font typeface="JetBrains Mono" panose="020B0604020202020204" charset="0"/>
      <p:regular r:id="rId13"/>
      <p:bold r:id="rId14"/>
      <p:italic r:id="rId15"/>
      <p:boldItalic r:id="rId16"/>
    </p:embeddedFont>
    <p:embeddedFont>
      <p:font typeface="Space Grotesk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BA5681-BC44-4623-9CA3-44243744933F}" v="16" dt="2026-09-27T17:33:52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suhas-n-reddy-928b0735a/" TargetMode="External"/><Relationship Id="rId5" Type="http://schemas.openxmlformats.org/officeDocument/2006/relationships/hyperlink" Target="https://www.linkedin.com/in/sneha-k-14b112300/" TargetMode="External"/><Relationship Id="rId4" Type="http://schemas.openxmlformats.org/officeDocument/2006/relationships/hyperlink" Target="https://www.linkedin.com/in/mohammed-araf-140247167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ttps:/www.linkedin.com/feed/update/urn:li:activity:75100279440571392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h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Idea submission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88" name="Google Shape;88;p13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10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11182" y="1904952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BUILD CHALLENGE 2026 · IDEA DECK</a:t>
            </a:r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2EBA0230-4292-4D34-8F4A-079DA1D882B8}"/>
              </a:ext>
            </a:extLst>
          </p:cNvPr>
          <p:cNvSpPr txBox="1"/>
          <p:nvPr/>
        </p:nvSpPr>
        <p:spPr>
          <a:xfrm>
            <a:off x="711182" y="2222444"/>
            <a:ext cx="9524761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InboxPilot</a:t>
            </a:r>
            <a:endParaRPr/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96FBE3A2-B2A2-46FA-A19B-7F0C3E3D8F7B}"/>
              </a:ext>
            </a:extLst>
          </p:cNvPr>
          <p:cNvSpPr txBox="1"/>
          <p:nvPr/>
        </p:nvSpPr>
        <p:spPr>
          <a:xfrm>
            <a:off x="711182" y="3555911"/>
            <a:ext cx="8889777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1" u="none" strike="noStrike" cap="none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 Autonomous agent that clears your inbox, calender &amp; backlog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11182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CB97472B-7B3C-4C7E-83E4-046EA59EE6E7}"/>
              </a:ext>
            </a:extLst>
          </p:cNvPr>
          <p:cNvSpPr txBox="1"/>
          <p:nvPr/>
        </p:nvSpPr>
        <p:spPr>
          <a:xfrm>
            <a:off x="711182" y="5270368"/>
            <a:ext cx="3428914" cy="2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 Think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3059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96" name="Google Shape;96;p13">
            <a:extLst>
              <a:ext uri="{FF2B5EF4-FFF2-40B4-BE49-F238E27FC236}">
                <a16:creationId xmlns:a16="http://schemas.microsoft.com/office/drawing/2014/main" id="{D820C3EF-DE43-4464-A5B5-1F52C0B869CC}"/>
              </a:ext>
            </a:extLst>
          </p:cNvPr>
          <p:cNvSpPr txBox="1"/>
          <p:nvPr/>
        </p:nvSpPr>
        <p:spPr>
          <a:xfrm>
            <a:off x="4330591" y="5270368"/>
            <a:ext cx="3428914" cy="51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PS-01 · Autonomous Agents for Everyday Apps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95000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MEMBERS</a:t>
            </a:r>
            <a:endParaRPr/>
          </a:p>
        </p:txBody>
      </p:sp>
      <p:sp>
        <p:nvSpPr>
          <p:cNvPr id="98" name="Google Shape;98;p13">
            <a:extLst>
              <a:ext uri="{FF2B5EF4-FFF2-40B4-BE49-F238E27FC236}">
                <a16:creationId xmlns:a16="http://schemas.microsoft.com/office/drawing/2014/main" id="{C7F30E95-BBC8-44E4-A9D8-660439860470}"/>
              </a:ext>
            </a:extLst>
          </p:cNvPr>
          <p:cNvSpPr txBox="1"/>
          <p:nvPr/>
        </p:nvSpPr>
        <p:spPr>
          <a:xfrm>
            <a:off x="7950001" y="5270368"/>
            <a:ext cx="3428914" cy="51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Mohammed Araf, Sneha K, Suhas N Reddy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6" descr="corn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02 · The problem</a:t>
            </a:r>
            <a:endParaRPr/>
          </a:p>
        </p:txBody>
      </p:sp>
      <p:cxnSp>
        <p:nvCxnSpPr>
          <p:cNvPr id="171" name="Google Shape;171;p16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16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10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PROBLEM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problem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solving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178" name="Google Shape;178;p16">
            <a:extLst>
              <a:ext uri="{FF2B5EF4-FFF2-40B4-BE49-F238E27FC236}">
                <a16:creationId xmlns:a16="http://schemas.microsoft.com/office/drawing/2014/main" id="{CD7F5D24-8AB2-4BAF-960A-C63A8DD74B1B}"/>
              </a:ext>
            </a:extLst>
          </p:cNvPr>
          <p:cNvSpPr txBox="1"/>
          <p:nvPr/>
        </p:nvSpPr>
        <p:spPr>
          <a:xfrm>
            <a:off x="914377" y="2984425"/>
            <a:ext cx="480047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9E988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PS-01 · Autonomous Agents for Everyday Apps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>
                <a:solidFill>
                  <a:srgbClr val="9E988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Email, calendar &amp; to-dos live in separate apps, with nothing tying them together.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FACES IT</a:t>
            </a:r>
            <a:endParaRPr/>
          </a:p>
        </p:txBody>
      </p:sp>
      <p:sp>
        <p:nvSpPr>
          <p:cNvPr id="181" name="Google Shape;181;p16">
            <a:extLst>
              <a:ext uri="{FF2B5EF4-FFF2-40B4-BE49-F238E27FC236}">
                <a16:creationId xmlns:a16="http://schemas.microsoft.com/office/drawing/2014/main" id="{D42DF81C-E04E-4CA5-A008-02CA8BA9B8E6}"/>
              </a:ext>
            </a:extLst>
          </p:cNvPr>
          <p:cNvSpPr txBox="1"/>
          <p:nvPr/>
        </p:nvSpPr>
        <p:spPr>
          <a:xfrm>
            <a:off x="6476838" y="2984425"/>
            <a:ext cx="480047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Students, freelancers, and early-career professionals running their own schedule — checking inbox, calendar, and to-do list separately, several times a day.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711182" y="4381390"/>
            <a:ext cx="10769330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914377" y="4559186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IT COSTS THEM TODAY</a:t>
            </a:r>
            <a:endParaRPr/>
          </a:p>
        </p:txBody>
      </p:sp>
      <p:sp>
        <p:nvSpPr>
          <p:cNvPr id="184" name="Google Shape;184;p16">
            <a:extLst>
              <a:ext uri="{FF2B5EF4-FFF2-40B4-BE49-F238E27FC236}">
                <a16:creationId xmlns:a16="http://schemas.microsoft.com/office/drawing/2014/main" id="{552B23DC-EDBC-42E3-880A-F14A57D9F844}"/>
              </a:ext>
            </a:extLst>
          </p:cNvPr>
          <p:cNvSpPr txBox="1"/>
          <p:nvPr/>
        </p:nvSpPr>
        <p:spPr>
          <a:xfrm>
            <a:off x="914377" y="4825879"/>
            <a:ext cx="1036294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About 30–40 minutes a day lost to switching between inbox, calendar, and task list — and action items still slip through the cracks.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 descr="to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03 · Solution overview</a:t>
            </a:r>
            <a:endParaRPr/>
          </a:p>
        </p:txBody>
      </p:sp>
      <p:cxnSp>
        <p:nvCxnSpPr>
          <p:cNvPr id="192" name="Google Shape;192;p17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17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10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OVERVIEW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building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711182" y="2539936"/>
            <a:ext cx="10769330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914377" y="2717732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TWO OR THREE LINES</a:t>
            </a:r>
            <a:endParaRPr/>
          </a:p>
        </p:txBody>
      </p:sp>
      <p:sp>
        <p:nvSpPr>
          <p:cNvPr id="199" name="Google Shape;199;p17">
            <a:extLst>
              <a:ext uri="{FF2B5EF4-FFF2-40B4-BE49-F238E27FC236}">
                <a16:creationId xmlns:a16="http://schemas.microsoft.com/office/drawing/2014/main" id="{83E59074-BEB4-46B8-86FF-18CF6550A272}"/>
              </a:ext>
            </a:extLst>
          </p:cNvPr>
          <p:cNvSpPr txBox="1"/>
          <p:nvPr/>
        </p:nvSpPr>
        <p:spPr>
          <a:xfrm>
            <a:off x="914377" y="2984425"/>
            <a:ext cx="1036294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9E988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InboxPilot reads your inbox, drafts replies, proposes meeting times, and extracts action items into a task list — nothing sends or books until you approve it.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 USER DOES</a:t>
            </a:r>
            <a:endParaRPr/>
          </a:p>
        </p:txBody>
      </p:sp>
      <p:sp>
        <p:nvSpPr>
          <p:cNvPr id="202" name="Google Shape;202;p17">
            <a:extLst>
              <a:ext uri="{FF2B5EF4-FFF2-40B4-BE49-F238E27FC236}">
                <a16:creationId xmlns:a16="http://schemas.microsoft.com/office/drawing/2014/main" id="{0EE8EC44-4C3D-4EAB-A18F-6F0F42E8F973}"/>
              </a:ext>
            </a:extLst>
          </p:cNvPr>
          <p:cNvSpPr txBox="1"/>
          <p:nvPr/>
        </p:nvSpPr>
        <p:spPr>
          <a:xfrm>
            <a:off x="914377" y="4825879"/>
            <a:ext cx="4800479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Connects Gmail, Calendar, and a task app once. After that, they just review a daily approval queue.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THEY GET BACK</a:t>
            </a:r>
            <a:endParaRPr/>
          </a:p>
        </p:txBody>
      </p:sp>
      <p:sp>
        <p:nvSpPr>
          <p:cNvPr id="205" name="Google Shape;205;p17">
            <a:extLst>
              <a:ext uri="{FF2B5EF4-FFF2-40B4-BE49-F238E27FC236}">
                <a16:creationId xmlns:a16="http://schemas.microsoft.com/office/drawing/2014/main" id="{C7CA4593-8A8B-42FC-8996-ED0A0E30244C}"/>
              </a:ext>
            </a:extLst>
          </p:cNvPr>
          <p:cNvSpPr txBox="1"/>
          <p:nvPr/>
        </p:nvSpPr>
        <p:spPr>
          <a:xfrm>
            <a:off x="6476838" y="4825879"/>
            <a:ext cx="480047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Ready-to-send email drafts, proposed meeting slots, and an auto-populated task list — each one approve, edit, or reject with a click.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8" descr="lef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04 · Technical approach</a:t>
            </a:r>
            <a:endParaRPr/>
          </a:p>
        </p:txBody>
      </p:sp>
      <p:cxnSp>
        <p:nvCxnSpPr>
          <p:cNvPr id="213" name="Google Shape;213;p18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14" name="Google Shape;214;p18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10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APPROACH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 works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</a:t>
            </a:r>
            <a:endParaRPr/>
          </a:p>
        </p:txBody>
      </p:sp>
      <p:sp>
        <p:nvSpPr>
          <p:cNvPr id="220" name="Google Shape;220;p18">
            <a:extLst>
              <a:ext uri="{FF2B5EF4-FFF2-40B4-BE49-F238E27FC236}">
                <a16:creationId xmlns:a16="http://schemas.microsoft.com/office/drawing/2014/main" id="{C541631C-D2AF-4049-9DDF-649C6168E04E}"/>
              </a:ext>
            </a:extLst>
          </p:cNvPr>
          <p:cNvSpPr txBox="1"/>
          <p:nvPr/>
        </p:nvSpPr>
        <p:spPr>
          <a:xfrm>
            <a:off x="914377" y="2984425"/>
            <a:ext cx="4800479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Gemini Flash for reasoning, email drafting, and structured action-item extraction via tool use / function calling.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&amp; FRAMEWORKS</a:t>
            </a:r>
            <a:endParaRPr/>
          </a:p>
        </p:txBody>
      </p:sp>
      <p:sp>
        <p:nvSpPr>
          <p:cNvPr id="223" name="Google Shape;223;p18">
            <a:extLst>
              <a:ext uri="{FF2B5EF4-FFF2-40B4-BE49-F238E27FC236}">
                <a16:creationId xmlns:a16="http://schemas.microsoft.com/office/drawing/2014/main" id="{0B2A7AF3-D2AB-4C9A-AF62-2E8D1DC0B8A3}"/>
              </a:ext>
            </a:extLst>
          </p:cNvPr>
          <p:cNvSpPr txBox="1"/>
          <p:nvPr/>
        </p:nvSpPr>
        <p:spPr>
          <a:xfrm>
            <a:off x="6476838" y="2984425"/>
            <a:ext cx="480047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Gmail + Google Calendar APIs for read/write access, an agent loop (Node.js) orchestrating tool calls, MCP-style connectors for the task app, React dashboard for approvals.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</a:t>
            </a:r>
            <a:endParaRPr/>
          </a:p>
        </p:txBody>
      </p:sp>
      <p:sp>
        <p:nvSpPr>
          <p:cNvPr id="226" name="Google Shape;226;p18">
            <a:extLst>
              <a:ext uri="{FF2B5EF4-FFF2-40B4-BE49-F238E27FC236}">
                <a16:creationId xmlns:a16="http://schemas.microsoft.com/office/drawing/2014/main" id="{CBD45B00-3EDF-45D9-B5FE-658BC2D92F2F}"/>
              </a:ext>
            </a:extLst>
          </p:cNvPr>
          <p:cNvSpPr txBox="1"/>
          <p:nvPr/>
        </p:nvSpPr>
        <p:spPr>
          <a:xfrm>
            <a:off x="914377" y="4825879"/>
            <a:ext cx="4800479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user's own connected inbox and calendar (OAuth), plus a sample seed inbox of ~30 anonymised emails for the live demo.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HUMAN APPROVAL</a:t>
            </a:r>
            <a:endParaRPr/>
          </a:p>
        </p:txBody>
      </p:sp>
      <p:sp>
        <p:nvSpPr>
          <p:cNvPr id="229" name="Google Shape;229;p18">
            <a:extLst>
              <a:ext uri="{FF2B5EF4-FFF2-40B4-BE49-F238E27FC236}">
                <a16:creationId xmlns:a16="http://schemas.microsoft.com/office/drawing/2014/main" id="{FBE7B97D-3AC8-4CAE-96F9-CCA97EDDF28B}"/>
              </a:ext>
            </a:extLst>
          </p:cNvPr>
          <p:cNvSpPr txBox="1"/>
          <p:nvPr/>
        </p:nvSpPr>
        <p:spPr>
          <a:xfrm>
            <a:off x="6476838" y="4825879"/>
            <a:ext cx="480047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Every outbound email send and every calendar booking waits in the approval queue — the agent never sends or commits anything on its own.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9" descr="corn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05 · Key features</a:t>
            </a:r>
            <a:endParaRPr/>
          </a:p>
        </p:txBody>
      </p:sp>
      <p:cxnSp>
        <p:nvCxnSpPr>
          <p:cNvPr id="237" name="Google Shape;237;p19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19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10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FEATURES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it will do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by 1 Oct</a:t>
            </a:r>
            <a:endParaRPr/>
          </a:p>
        </p:txBody>
      </p:sp>
      <p:cxnSp>
        <p:nvCxnSpPr>
          <p:cNvPr id="242" name="Google Shape;242;p19"/>
          <p:cNvCxnSpPr/>
          <p:nvPr/>
        </p:nvCxnSpPr>
        <p:spPr>
          <a:xfrm>
            <a:off x="711182" y="2539936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43" name="Google Shape;243;p19"/>
          <p:cNvSpPr txBox="1"/>
          <p:nvPr/>
        </p:nvSpPr>
        <p:spPr>
          <a:xfrm>
            <a:off x="711182" y="267963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01</a:t>
            </a:r>
            <a:endParaRPr/>
          </a:p>
        </p:txBody>
      </p:sp>
      <p:sp>
        <p:nvSpPr>
          <p:cNvPr id="244" name="Google Shape;244;p19">
            <a:extLst>
              <a:ext uri="{FF2B5EF4-FFF2-40B4-BE49-F238E27FC236}">
                <a16:creationId xmlns:a16="http://schemas.microsoft.com/office/drawing/2014/main" id="{3B26C56B-59F2-4BFD-9607-529B774C0F5F}"/>
              </a:ext>
            </a:extLst>
          </p:cNvPr>
          <p:cNvSpPr txBox="1"/>
          <p:nvPr/>
        </p:nvSpPr>
        <p:spPr>
          <a:xfrm>
            <a:off x="1460463" y="2705032"/>
            <a:ext cx="3555911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 Triage</a:t>
            </a:r>
            <a:endParaRPr/>
          </a:p>
        </p:txBody>
      </p:sp>
      <p:sp>
        <p:nvSpPr>
          <p:cNvPr id="245" name="Google Shape;245;p19">
            <a:extLst>
              <a:ext uri="{FF2B5EF4-FFF2-40B4-BE49-F238E27FC236}">
                <a16:creationId xmlns:a16="http://schemas.microsoft.com/office/drawing/2014/main" id="{663E1113-7DA6-4B1E-B695-240CF0E274A0}"/>
              </a:ext>
            </a:extLst>
          </p:cNvPr>
          <p:cNvSpPr txBox="1"/>
          <p:nvPr/>
        </p:nvSpPr>
        <p:spPr>
          <a:xfrm>
            <a:off x="5206869" y="2730431"/>
            <a:ext cx="6273643" cy="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Auto-sorts incoming email by urgency and type as it arrives.</a:t>
            </a:r>
            <a:endParaRPr/>
          </a:p>
        </p:txBody>
      </p:sp>
      <p:cxnSp>
        <p:nvCxnSpPr>
          <p:cNvPr id="246" name="Google Shape;246;p19"/>
          <p:cNvCxnSpPr/>
          <p:nvPr/>
        </p:nvCxnSpPr>
        <p:spPr>
          <a:xfrm>
            <a:off x="711182" y="3238419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47" name="Google Shape;247;p19"/>
          <p:cNvSpPr txBox="1"/>
          <p:nvPr/>
        </p:nvSpPr>
        <p:spPr>
          <a:xfrm>
            <a:off x="711182" y="3378115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02</a:t>
            </a:r>
            <a:endParaRPr/>
          </a:p>
        </p:txBody>
      </p:sp>
      <p:sp>
        <p:nvSpPr>
          <p:cNvPr id="248" name="Google Shape;248;p19">
            <a:extLst>
              <a:ext uri="{FF2B5EF4-FFF2-40B4-BE49-F238E27FC236}">
                <a16:creationId xmlns:a16="http://schemas.microsoft.com/office/drawing/2014/main" id="{363C059A-1D53-40E1-89AD-6A1E1E18CD85}"/>
              </a:ext>
            </a:extLst>
          </p:cNvPr>
          <p:cNvSpPr txBox="1"/>
          <p:nvPr/>
        </p:nvSpPr>
        <p:spPr>
          <a:xfrm>
            <a:off x="1460463" y="3403514"/>
            <a:ext cx="3555911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Draft &amp; Suggest</a:t>
            </a:r>
            <a:endParaRPr/>
          </a:p>
        </p:txBody>
      </p:sp>
      <p:sp>
        <p:nvSpPr>
          <p:cNvPr id="249" name="Google Shape;249;p19">
            <a:extLst>
              <a:ext uri="{FF2B5EF4-FFF2-40B4-BE49-F238E27FC236}">
                <a16:creationId xmlns:a16="http://schemas.microsoft.com/office/drawing/2014/main" id="{D5CF3427-67AA-4642-A5CF-FFF91845E5C6}"/>
              </a:ext>
            </a:extLst>
          </p:cNvPr>
          <p:cNvSpPr txBox="1"/>
          <p:nvPr/>
        </p:nvSpPr>
        <p:spPr>
          <a:xfrm>
            <a:off x="5206869" y="3428914"/>
            <a:ext cx="6273643" cy="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Generates a ready-to-send reply for each email that needs one.</a:t>
            </a:r>
            <a:endParaRPr/>
          </a:p>
        </p:txBody>
      </p:sp>
      <p:cxnSp>
        <p:nvCxnSpPr>
          <p:cNvPr id="250" name="Google Shape;250;p19"/>
          <p:cNvCxnSpPr/>
          <p:nvPr/>
        </p:nvCxnSpPr>
        <p:spPr>
          <a:xfrm>
            <a:off x="711182" y="3936901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19"/>
          <p:cNvSpPr txBox="1"/>
          <p:nvPr/>
        </p:nvSpPr>
        <p:spPr>
          <a:xfrm>
            <a:off x="711182" y="4076598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03</a:t>
            </a:r>
            <a:endParaRPr/>
          </a:p>
        </p:txBody>
      </p:sp>
      <p:sp>
        <p:nvSpPr>
          <p:cNvPr id="252" name="Google Shape;252;p19">
            <a:extLst>
              <a:ext uri="{FF2B5EF4-FFF2-40B4-BE49-F238E27FC236}">
                <a16:creationId xmlns:a16="http://schemas.microsoft.com/office/drawing/2014/main" id="{D33DDC7D-431E-460F-8A67-65369E200324}"/>
              </a:ext>
            </a:extLst>
          </p:cNvPr>
          <p:cNvSpPr txBox="1"/>
          <p:nvPr/>
        </p:nvSpPr>
        <p:spPr>
          <a:xfrm>
            <a:off x="1460463" y="4101997"/>
            <a:ext cx="3555911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Meeting Slot Finder</a:t>
            </a:r>
            <a:endParaRPr/>
          </a:p>
        </p:txBody>
      </p:sp>
      <p:sp>
        <p:nvSpPr>
          <p:cNvPr id="253" name="Google Shape;253;p19">
            <a:extLst>
              <a:ext uri="{FF2B5EF4-FFF2-40B4-BE49-F238E27FC236}">
                <a16:creationId xmlns:a16="http://schemas.microsoft.com/office/drawing/2014/main" id="{7A425AD0-F22C-43EB-AB55-21B09AC928D8}"/>
              </a:ext>
            </a:extLst>
          </p:cNvPr>
          <p:cNvSpPr txBox="1"/>
          <p:nvPr/>
        </p:nvSpPr>
        <p:spPr>
          <a:xfrm>
            <a:off x="5206869" y="4127396"/>
            <a:ext cx="6273643" cy="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Reads calendar availability and proposes 2–3 slots, added with one click.</a:t>
            </a:r>
            <a:endParaRPr/>
          </a:p>
        </p:txBody>
      </p:sp>
      <p:cxnSp>
        <p:nvCxnSpPr>
          <p:cNvPr id="254" name="Google Shape;254;p19"/>
          <p:cNvCxnSpPr/>
          <p:nvPr/>
        </p:nvCxnSpPr>
        <p:spPr>
          <a:xfrm>
            <a:off x="711182" y="4635384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19"/>
          <p:cNvSpPr txBox="1"/>
          <p:nvPr/>
        </p:nvSpPr>
        <p:spPr>
          <a:xfrm>
            <a:off x="711182" y="4775080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04</a:t>
            </a:r>
            <a:endParaRPr/>
          </a:p>
        </p:txBody>
      </p:sp>
      <p:sp>
        <p:nvSpPr>
          <p:cNvPr id="256" name="Google Shape;256;p19">
            <a:extLst>
              <a:ext uri="{FF2B5EF4-FFF2-40B4-BE49-F238E27FC236}">
                <a16:creationId xmlns:a16="http://schemas.microsoft.com/office/drawing/2014/main" id="{D99DC737-2B24-4F78-9D14-FDF33FFA338C}"/>
              </a:ext>
            </a:extLst>
          </p:cNvPr>
          <p:cNvSpPr txBox="1"/>
          <p:nvPr/>
        </p:nvSpPr>
        <p:spPr>
          <a:xfrm>
            <a:off x="1460463" y="4800479"/>
            <a:ext cx="3555911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Task Extraction</a:t>
            </a:r>
            <a:endParaRPr/>
          </a:p>
        </p:txBody>
      </p:sp>
      <p:sp>
        <p:nvSpPr>
          <p:cNvPr id="257" name="Google Shape;257;p19">
            <a:extLst>
              <a:ext uri="{FF2B5EF4-FFF2-40B4-BE49-F238E27FC236}">
                <a16:creationId xmlns:a16="http://schemas.microsoft.com/office/drawing/2014/main" id="{D4CA5153-23DC-4E91-82AF-F7AFB5CF3FAE}"/>
              </a:ext>
            </a:extLst>
          </p:cNvPr>
          <p:cNvSpPr txBox="1"/>
          <p:nvPr/>
        </p:nvSpPr>
        <p:spPr>
          <a:xfrm>
            <a:off x="5206869" y="4825879"/>
            <a:ext cx="6273643" cy="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Pulls action items out of email threads straight into a task list.</a:t>
            </a:r>
            <a:endParaRPr/>
          </a:p>
        </p:txBody>
      </p:sp>
      <p:cxnSp>
        <p:nvCxnSpPr>
          <p:cNvPr id="258" name="Google Shape;258;p19"/>
          <p:cNvCxnSpPr/>
          <p:nvPr/>
        </p:nvCxnSpPr>
        <p:spPr>
          <a:xfrm>
            <a:off x="711182" y="5333866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19"/>
          <p:cNvSpPr txBox="1"/>
          <p:nvPr/>
        </p:nvSpPr>
        <p:spPr>
          <a:xfrm>
            <a:off x="711182" y="547356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05</a:t>
            </a:r>
            <a:endParaRPr/>
          </a:p>
        </p:txBody>
      </p:sp>
      <p:sp>
        <p:nvSpPr>
          <p:cNvPr id="260" name="Google Shape;260;p19">
            <a:extLst>
              <a:ext uri="{FF2B5EF4-FFF2-40B4-BE49-F238E27FC236}">
                <a16:creationId xmlns:a16="http://schemas.microsoft.com/office/drawing/2014/main" id="{C089940D-27F2-46D9-9EE1-472BFFEDA04B}"/>
              </a:ext>
            </a:extLst>
          </p:cNvPr>
          <p:cNvSpPr txBox="1"/>
          <p:nvPr/>
        </p:nvSpPr>
        <p:spPr>
          <a:xfrm>
            <a:off x="1460463" y="5498962"/>
            <a:ext cx="3555911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Approval Queue</a:t>
            </a:r>
            <a:endParaRPr/>
          </a:p>
        </p:txBody>
      </p:sp>
      <p:sp>
        <p:nvSpPr>
          <p:cNvPr id="261" name="Google Shape;261;p19">
            <a:extLst>
              <a:ext uri="{FF2B5EF4-FFF2-40B4-BE49-F238E27FC236}">
                <a16:creationId xmlns:a16="http://schemas.microsoft.com/office/drawing/2014/main" id="{1D82DDB7-44C0-4D23-AEE8-9BA42CCC286E}"/>
              </a:ext>
            </a:extLst>
          </p:cNvPr>
          <p:cNvSpPr txBox="1"/>
          <p:nvPr/>
        </p:nvSpPr>
        <p:spPr>
          <a:xfrm>
            <a:off x="5206869" y="5524361"/>
            <a:ext cx="6273643" cy="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 screen to approve, edit, or reject every action before it goes out.</a:t>
            </a:r>
            <a:endParaRPr/>
          </a:p>
        </p:txBody>
      </p:sp>
      <p:cxnSp>
        <p:nvCxnSpPr>
          <p:cNvPr id="262" name="Google Shape;262;p19"/>
          <p:cNvCxnSpPr/>
          <p:nvPr/>
        </p:nvCxnSpPr>
        <p:spPr>
          <a:xfrm>
            <a:off x="711182" y="6032349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0" descr="h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06 · Baseline &amp; evaluation</a:t>
            </a:r>
            <a:endParaRPr/>
          </a:p>
        </p:txBody>
      </p:sp>
      <p:cxnSp>
        <p:nvCxnSpPr>
          <p:cNvPr id="270" name="Google Shape;270;p20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71" name="Google Shape;271;p20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10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BASELINE &amp; EVALUATION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we'll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prove it works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711182" y="2539936"/>
            <a:ext cx="5206869" cy="1714457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914377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TODAY · WITHOUT YOUR SYSTEM</a:t>
            </a:r>
            <a:endParaRPr/>
          </a:p>
        </p:txBody>
      </p:sp>
      <p:sp>
        <p:nvSpPr>
          <p:cNvPr id="277" name="Google Shape;277;p20">
            <a:extLst>
              <a:ext uri="{FF2B5EF4-FFF2-40B4-BE49-F238E27FC236}">
                <a16:creationId xmlns:a16="http://schemas.microsoft.com/office/drawing/2014/main" id="{17C5A144-0F9B-429D-8F09-0FDF8ADC2E0D}"/>
              </a:ext>
            </a:extLst>
          </p:cNvPr>
          <p:cNvSpPr txBox="1"/>
          <p:nvPr/>
        </p:nvSpPr>
        <p:spPr>
          <a:xfrm>
            <a:off x="914377" y="2984425"/>
            <a:ext cx="48004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≈ 35 min / day</a:t>
            </a:r>
            <a:endParaRPr/>
          </a:p>
        </p:txBody>
      </p:sp>
      <p:sp>
        <p:nvSpPr>
          <p:cNvPr id="278" name="Google Shape;278;p20">
            <a:extLst>
              <a:ext uri="{FF2B5EF4-FFF2-40B4-BE49-F238E27FC236}">
                <a16:creationId xmlns:a16="http://schemas.microsoft.com/office/drawing/2014/main" id="{1EC37CD3-103F-4DC7-A010-3D315C63B7CF}"/>
              </a:ext>
            </a:extLst>
          </p:cNvPr>
          <p:cNvSpPr txBox="1"/>
          <p:nvPr/>
        </p:nvSpPr>
        <p:spPr>
          <a:xfrm>
            <a:off x="914377" y="3619409"/>
            <a:ext cx="4800479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Manual inbox, calendar, and task-list admin, self-timed across a week of normal use.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6273643" y="2539936"/>
            <a:ext cx="5206869" cy="1714457"/>
          </a:xfrm>
          <a:prstGeom prst="roundRect">
            <a:avLst>
              <a:gd name="adj" fmla="val 6000"/>
            </a:avLst>
          </a:prstGeom>
          <a:solidFill>
            <a:srgbClr val="2A2110"/>
          </a:solidFill>
          <a:ln w="12700" cap="flat" cmpd="sng">
            <a:solidFill>
              <a:srgbClr val="8A68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6476838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 · WITH YOUR SYSTEM</a:t>
            </a:r>
            <a:endParaRPr/>
          </a:p>
        </p:txBody>
      </p:sp>
      <p:sp>
        <p:nvSpPr>
          <p:cNvPr id="281" name="Google Shape;281;p20">
            <a:extLst>
              <a:ext uri="{FF2B5EF4-FFF2-40B4-BE49-F238E27FC236}">
                <a16:creationId xmlns:a16="http://schemas.microsoft.com/office/drawing/2014/main" id="{9D980438-C6C6-4E1B-9725-C44B32D0AAC0}"/>
              </a:ext>
            </a:extLst>
          </p:cNvPr>
          <p:cNvSpPr txBox="1"/>
          <p:nvPr/>
        </p:nvSpPr>
        <p:spPr>
          <a:xfrm>
            <a:off x="6476838" y="2984425"/>
            <a:ext cx="48004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≈ 7 min / day</a:t>
            </a:r>
            <a:endParaRPr/>
          </a:p>
        </p:txBody>
      </p:sp>
      <p:sp>
        <p:nvSpPr>
          <p:cNvPr id="282" name="Google Shape;282;p20">
            <a:extLst>
              <a:ext uri="{FF2B5EF4-FFF2-40B4-BE49-F238E27FC236}">
                <a16:creationId xmlns:a16="http://schemas.microsoft.com/office/drawing/2014/main" id="{C4466AB8-2892-4AC5-A2AE-D6F847656A86}"/>
              </a:ext>
            </a:extLst>
          </p:cNvPr>
          <p:cNvSpPr txBox="1"/>
          <p:nvPr/>
        </p:nvSpPr>
        <p:spPr>
          <a:xfrm>
            <a:off x="6476838" y="3619409"/>
            <a:ext cx="480047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Same measure, review-and-approve time only.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5918052" y="3206669"/>
            <a:ext cx="355591" cy="38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>
                <a:solidFill>
                  <a:srgbClr val="F2B632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711182" y="4508387"/>
            <a:ext cx="10769330" cy="1460463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914377" y="4686182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YOU'LL EVALUATE IT</a:t>
            </a:r>
            <a:endParaRPr/>
          </a:p>
        </p:txBody>
      </p:sp>
      <p:sp>
        <p:nvSpPr>
          <p:cNvPr id="286" name="Google Shape;286;p20">
            <a:extLst>
              <a:ext uri="{FF2B5EF4-FFF2-40B4-BE49-F238E27FC236}">
                <a16:creationId xmlns:a16="http://schemas.microsoft.com/office/drawing/2014/main" id="{4FD31CB2-AF5A-4DE1-BA83-C748C74F8E1F}"/>
              </a:ext>
            </a:extLst>
          </p:cNvPr>
          <p:cNvSpPr txBox="1"/>
          <p:nvPr/>
        </p:nvSpPr>
        <p:spPr>
          <a:xfrm>
            <a:off x="914377" y="4952876"/>
            <a:ext cx="1036294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30 sample email/calendar scenarios. We'll report: % of drafts needing no/minor edits, time-to-approve per item, and task-extraction precision/recall against manually tagged action items. Every rejected action is logged, so failure patterns surface before the demo.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1" descr="to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07 · Team</a:t>
            </a:r>
            <a:endParaRPr/>
          </a:p>
        </p:txBody>
      </p:sp>
      <p:cxnSp>
        <p:nvCxnSpPr>
          <p:cNvPr id="294" name="Google Shape;294;p21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5" name="Google Shape;295;p21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10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298" name="Google Shape;298;p21">
            <a:extLst>
              <a:ext uri="{FF2B5EF4-FFF2-40B4-BE49-F238E27FC236}">
                <a16:creationId xmlns:a16="http://schemas.microsoft.com/office/drawing/2014/main" id="{A89D5649-A893-49E5-A96C-278203D34A4A}"/>
              </a:ext>
            </a:extLst>
          </p:cNvPr>
          <p:cNvSpPr txBox="1"/>
          <p:nvPr/>
        </p:nvSpPr>
        <p:spPr>
          <a:xfrm>
            <a:off x="711182" y="1492212"/>
            <a:ext cx="1079473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Deep Think</a:t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711182" y="2666933"/>
            <a:ext cx="3428914" cy="317492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939776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01</a:t>
            </a:r>
            <a:endParaRPr/>
          </a:p>
        </p:txBody>
      </p:sp>
      <p:sp>
        <p:nvSpPr>
          <p:cNvPr id="301" name="Google Shape;301;p21">
            <a:extLst>
              <a:ext uri="{FF2B5EF4-FFF2-40B4-BE49-F238E27FC236}">
                <a16:creationId xmlns:a16="http://schemas.microsoft.com/office/drawing/2014/main" id="{C8701365-DD7C-4072-9F5C-E204FD031F67}"/>
              </a:ext>
            </a:extLst>
          </p:cNvPr>
          <p:cNvSpPr txBox="1"/>
          <p:nvPr/>
        </p:nvSpPr>
        <p:spPr>
          <a:xfrm>
            <a:off x="939776" y="3174920"/>
            <a:ext cx="298442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Mohammed Araf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939776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03" name="Google Shape;303;p21">
            <a:extLst>
              <a:ext uri="{FF2B5EF4-FFF2-40B4-BE49-F238E27FC236}">
                <a16:creationId xmlns:a16="http://schemas.microsoft.com/office/drawing/2014/main" id="{F09A0D6D-4D3C-4966-AE3D-B7A271F7DC93}"/>
              </a:ext>
            </a:extLst>
          </p:cNvPr>
          <p:cNvSpPr txBox="1"/>
          <p:nvPr/>
        </p:nvSpPr>
        <p:spPr>
          <a:xfrm>
            <a:off x="1981150" y="3848003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Dayanand Sagar University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939776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05" name="Google Shape;305;p21">
            <a:extLst>
              <a:ext uri="{FF2B5EF4-FFF2-40B4-BE49-F238E27FC236}">
                <a16:creationId xmlns:a16="http://schemas.microsoft.com/office/drawing/2014/main" id="{76AA2AF8-F674-4E8F-BDFC-72D04F5E96F5}"/>
              </a:ext>
            </a:extLst>
          </p:cNvPr>
          <p:cNvSpPr txBox="1"/>
          <p:nvPr/>
        </p:nvSpPr>
        <p:spPr>
          <a:xfrm>
            <a:off x="1981150" y="4305192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9E988E"/>
                </a:solidFill>
                <a:latin typeface="Space Grotesk"/>
                <a:cs typeface="Space Grotesk"/>
                <a:sym typeface="Space Grotesk"/>
              </a:rPr>
              <a:t>Final</a:t>
            </a:r>
            <a:endParaRPr dirty="0"/>
          </a:p>
        </p:txBody>
      </p:sp>
      <p:sp>
        <p:nvSpPr>
          <p:cNvPr id="306" name="Google Shape;306;p21"/>
          <p:cNvSpPr txBox="1"/>
          <p:nvPr/>
        </p:nvSpPr>
        <p:spPr>
          <a:xfrm>
            <a:off x="939776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07" name="Google Shape;307;p21">
            <a:extLst>
              <a:ext uri="{FF2B5EF4-FFF2-40B4-BE49-F238E27FC236}">
                <a16:creationId xmlns:a16="http://schemas.microsoft.com/office/drawing/2014/main" id="{C063FE71-643A-4351-82C7-CACF22A160E5}"/>
              </a:ext>
            </a:extLst>
          </p:cNvPr>
          <p:cNvSpPr txBox="1"/>
          <p:nvPr/>
        </p:nvSpPr>
        <p:spPr>
          <a:xfrm>
            <a:off x="1981150" y="4762380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 &amp; Backend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939776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09" name="Google Shape;309;p21">
            <a:hlinkClick r:id="rId4"/>
            <a:extLst>
              <a:ext uri="{FF2B5EF4-FFF2-40B4-BE49-F238E27FC236}">
                <a16:creationId xmlns:a16="http://schemas.microsoft.com/office/drawing/2014/main" id="{9AD13EED-377F-476C-B832-245F1FAC6950}"/>
              </a:ext>
            </a:extLst>
          </p:cNvPr>
          <p:cNvSpPr txBox="1"/>
          <p:nvPr/>
        </p:nvSpPr>
        <p:spPr>
          <a:xfrm>
            <a:off x="1981150" y="5219569"/>
            <a:ext cx="196845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https://www.linkedin.com/in/mohammed-araf-140247167/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4381390" y="2666933"/>
            <a:ext cx="3428914" cy="317492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609984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02</a:t>
            </a:r>
            <a:endParaRPr/>
          </a:p>
        </p:txBody>
      </p:sp>
      <p:sp>
        <p:nvSpPr>
          <p:cNvPr id="312" name="Google Shape;312;p21">
            <a:extLst>
              <a:ext uri="{FF2B5EF4-FFF2-40B4-BE49-F238E27FC236}">
                <a16:creationId xmlns:a16="http://schemas.microsoft.com/office/drawing/2014/main" id="{E0E4D1BE-D653-4C2E-90E7-D1A1875D9FC7}"/>
              </a:ext>
            </a:extLst>
          </p:cNvPr>
          <p:cNvSpPr txBox="1"/>
          <p:nvPr/>
        </p:nvSpPr>
        <p:spPr>
          <a:xfrm>
            <a:off x="4609984" y="3174920"/>
            <a:ext cx="298442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Sneha K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4609984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14" name="Google Shape;314;p21">
            <a:extLst>
              <a:ext uri="{FF2B5EF4-FFF2-40B4-BE49-F238E27FC236}">
                <a16:creationId xmlns:a16="http://schemas.microsoft.com/office/drawing/2014/main" id="{3CF2A49D-E0E9-43D7-A21B-0EEBFBBF5035}"/>
              </a:ext>
            </a:extLst>
          </p:cNvPr>
          <p:cNvSpPr txBox="1"/>
          <p:nvPr/>
        </p:nvSpPr>
        <p:spPr>
          <a:xfrm>
            <a:off x="5651358" y="3848003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Dayanand Sagar University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4609984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16" name="Google Shape;316;p21">
            <a:extLst>
              <a:ext uri="{FF2B5EF4-FFF2-40B4-BE49-F238E27FC236}">
                <a16:creationId xmlns:a16="http://schemas.microsoft.com/office/drawing/2014/main" id="{3C67B616-D629-4866-BDFA-D16EB06A6796}"/>
              </a:ext>
            </a:extLst>
          </p:cNvPr>
          <p:cNvSpPr txBox="1"/>
          <p:nvPr/>
        </p:nvSpPr>
        <p:spPr>
          <a:xfrm>
            <a:off x="5651358" y="4305192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9E988E"/>
                </a:solidFill>
                <a:latin typeface="Space Grotesk"/>
                <a:cs typeface="Space Grotesk"/>
                <a:sym typeface="Space Grotesk"/>
              </a:rPr>
              <a:t>Final</a:t>
            </a:r>
            <a:endParaRPr dirty="0"/>
          </a:p>
        </p:txBody>
      </p:sp>
      <p:sp>
        <p:nvSpPr>
          <p:cNvPr id="317" name="Google Shape;317;p21"/>
          <p:cNvSpPr txBox="1"/>
          <p:nvPr/>
        </p:nvSpPr>
        <p:spPr>
          <a:xfrm>
            <a:off x="4609984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18" name="Google Shape;318;p21">
            <a:extLst>
              <a:ext uri="{FF2B5EF4-FFF2-40B4-BE49-F238E27FC236}">
                <a16:creationId xmlns:a16="http://schemas.microsoft.com/office/drawing/2014/main" id="{593A428E-D49D-4F90-A74C-BBCC621A1DAB}"/>
              </a:ext>
            </a:extLst>
          </p:cNvPr>
          <p:cNvSpPr txBox="1"/>
          <p:nvPr/>
        </p:nvSpPr>
        <p:spPr>
          <a:xfrm>
            <a:off x="5651358" y="4762380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Frontend &amp; Demo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4609984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20" name="Google Shape;320;p21">
            <a:hlinkClick r:id="rId5"/>
            <a:extLst>
              <a:ext uri="{FF2B5EF4-FFF2-40B4-BE49-F238E27FC236}">
                <a16:creationId xmlns:a16="http://schemas.microsoft.com/office/drawing/2014/main" id="{CA7C4B81-54A7-41B0-99F1-B5CDCCAC208A}"/>
              </a:ext>
            </a:extLst>
          </p:cNvPr>
          <p:cNvSpPr txBox="1"/>
          <p:nvPr/>
        </p:nvSpPr>
        <p:spPr>
          <a:xfrm>
            <a:off x="5651358" y="5219569"/>
            <a:ext cx="196845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https://www.linkedin.com/in/sneha-k-14b112300/</a:t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8051598" y="2666933"/>
            <a:ext cx="3428914" cy="317492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8280192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03</a:t>
            </a:r>
            <a:endParaRPr/>
          </a:p>
        </p:txBody>
      </p:sp>
      <p:sp>
        <p:nvSpPr>
          <p:cNvPr id="323" name="Google Shape;323;p21">
            <a:extLst>
              <a:ext uri="{FF2B5EF4-FFF2-40B4-BE49-F238E27FC236}">
                <a16:creationId xmlns:a16="http://schemas.microsoft.com/office/drawing/2014/main" id="{0AD60B42-F78E-4F60-8FFF-0AE1258EEAE1}"/>
              </a:ext>
            </a:extLst>
          </p:cNvPr>
          <p:cNvSpPr txBox="1"/>
          <p:nvPr/>
        </p:nvSpPr>
        <p:spPr>
          <a:xfrm>
            <a:off x="8280192" y="3174920"/>
            <a:ext cx="2984425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Suhas N Reddy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8280192" y="3873403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/>
          </a:p>
        </p:txBody>
      </p:sp>
      <p:sp>
        <p:nvSpPr>
          <p:cNvPr id="325" name="Google Shape;325;p21">
            <a:extLst>
              <a:ext uri="{FF2B5EF4-FFF2-40B4-BE49-F238E27FC236}">
                <a16:creationId xmlns:a16="http://schemas.microsoft.com/office/drawing/2014/main" id="{D9A85B9E-1C59-4DDB-818B-1A4BCCC6EC9B}"/>
              </a:ext>
            </a:extLst>
          </p:cNvPr>
          <p:cNvSpPr txBox="1"/>
          <p:nvPr/>
        </p:nvSpPr>
        <p:spPr>
          <a:xfrm>
            <a:off x="9321566" y="3848003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Dayanand Sagar University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8280192" y="4330591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/>
          </a:p>
        </p:txBody>
      </p:sp>
      <p:sp>
        <p:nvSpPr>
          <p:cNvPr id="327" name="Google Shape;327;p21">
            <a:extLst>
              <a:ext uri="{FF2B5EF4-FFF2-40B4-BE49-F238E27FC236}">
                <a16:creationId xmlns:a16="http://schemas.microsoft.com/office/drawing/2014/main" id="{821280BE-E942-4F22-BA3B-331C9AE958A1}"/>
              </a:ext>
            </a:extLst>
          </p:cNvPr>
          <p:cNvSpPr txBox="1"/>
          <p:nvPr/>
        </p:nvSpPr>
        <p:spPr>
          <a:xfrm>
            <a:off x="9321566" y="4305192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9E988E"/>
                </a:solidFill>
                <a:latin typeface="Space Grotesk"/>
                <a:cs typeface="Space Grotesk"/>
                <a:sym typeface="Space Grotesk"/>
              </a:rPr>
              <a:t>Final</a:t>
            </a:r>
            <a:endParaRPr dirty="0"/>
          </a:p>
        </p:txBody>
      </p:sp>
      <p:sp>
        <p:nvSpPr>
          <p:cNvPr id="328" name="Google Shape;328;p21"/>
          <p:cNvSpPr txBox="1"/>
          <p:nvPr/>
        </p:nvSpPr>
        <p:spPr>
          <a:xfrm>
            <a:off x="8280192" y="478778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/>
          </a:p>
        </p:txBody>
      </p:sp>
      <p:sp>
        <p:nvSpPr>
          <p:cNvPr id="329" name="Google Shape;329;p21">
            <a:extLst>
              <a:ext uri="{FF2B5EF4-FFF2-40B4-BE49-F238E27FC236}">
                <a16:creationId xmlns:a16="http://schemas.microsoft.com/office/drawing/2014/main" id="{87A2F3BB-C4A5-4B8A-9B10-CA4352EAC96A}"/>
              </a:ext>
            </a:extLst>
          </p:cNvPr>
          <p:cNvSpPr txBox="1"/>
          <p:nvPr/>
        </p:nvSpPr>
        <p:spPr>
          <a:xfrm>
            <a:off x="9321566" y="4762380"/>
            <a:ext cx="196845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Integrations &amp; Data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8280192" y="524496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/>
          </a:p>
        </p:txBody>
      </p:sp>
      <p:sp>
        <p:nvSpPr>
          <p:cNvPr id="331" name="Google Shape;331;p21">
            <a:hlinkClick r:id="rId6"/>
            <a:extLst>
              <a:ext uri="{FF2B5EF4-FFF2-40B4-BE49-F238E27FC236}">
                <a16:creationId xmlns:a16="http://schemas.microsoft.com/office/drawing/2014/main" id="{06D34F91-446A-4369-84C9-B00B31F9E06E}"/>
              </a:ext>
            </a:extLst>
          </p:cNvPr>
          <p:cNvSpPr txBox="1"/>
          <p:nvPr/>
        </p:nvSpPr>
        <p:spPr>
          <a:xfrm>
            <a:off x="9321566" y="5219569"/>
            <a:ext cx="196845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https://www.linkedin.com/in/suhas-n-reddy-928b0735a/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2" descr="h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cxnSp>
        <p:nvCxnSpPr>
          <p:cNvPr id="339" name="Google Shape;339;p22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22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10</a:t>
            </a:r>
            <a:endParaRPr/>
          </a:p>
        </p:txBody>
      </p:sp>
      <p:sp>
        <p:nvSpPr>
          <p:cNvPr id="342" name="Google Shape;342;p22">
            <a:extLst>
              <a:ext uri="{FF2B5EF4-FFF2-40B4-BE49-F238E27FC236}">
                <a16:creationId xmlns:a16="http://schemas.microsoft.com/office/drawing/2014/main" id="{060AC406-8327-409F-8F39-3D73D62D1CAD}"/>
              </a:ext>
            </a:extLst>
          </p:cNvPr>
          <p:cNvSpPr txBox="1"/>
          <p:nvPr/>
        </p:nvSpPr>
        <p:spPr>
          <a:xfrm>
            <a:off x="711182" y="2984425"/>
            <a:ext cx="5714857" cy="14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Deep Think · PS-01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711182" y="3238419"/>
            <a:ext cx="10159746" cy="139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</a:t>
            </a:r>
            <a:r>
              <a:rPr lang="en-US" sz="11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you.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711182" y="5079873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OUR PUBLIC POST</a:t>
            </a:r>
            <a:endParaRPr/>
          </a:p>
        </p:txBody>
      </p:sp>
      <p:sp>
        <p:nvSpPr>
          <p:cNvPr id="345" name="Google Shape;345;p22">
            <a:hlinkClick r:id="rId4"/>
            <a:extLst>
              <a:ext uri="{FF2B5EF4-FFF2-40B4-BE49-F238E27FC236}">
                <a16:creationId xmlns:a16="http://schemas.microsoft.com/office/drawing/2014/main" id="{E6B9CC8C-9069-4C9C-8AEC-ED3D6B86A52E}"/>
              </a:ext>
            </a:extLst>
          </p:cNvPr>
          <p:cNvSpPr txBox="1"/>
          <p:nvPr/>
        </p:nvSpPr>
        <p:spPr>
          <a:xfrm>
            <a:off x="711182" y="5333866"/>
            <a:ext cx="8889777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https://www.linkedin.com/feed/update/urn:li:activity:7510027944057139200/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2026-09-27T17:34:50Z</dcterms:modified>
</cp:coreProperties>
</file>